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Bree Serif" charset="1" panose="02000503040000020004"/>
      <p:regular r:id="rId16"/>
    </p:embeddedFont>
    <p:embeddedFont>
      <p:font typeface="Norwester" charset="1" panose="00000506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6.jpeg" Type="http://schemas.openxmlformats.org/officeDocument/2006/relationships/image"/><Relationship Id="rId4" Target="../media/image7.jpe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9.jpeg" Type="http://schemas.openxmlformats.org/officeDocument/2006/relationships/image"/><Relationship Id="rId4" Target="../media/image10.jpe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1.jpeg" Type="http://schemas.openxmlformats.org/officeDocument/2006/relationships/image"/><Relationship Id="rId4" Target="../media/image12.jpe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3.jpeg" Type="http://schemas.openxmlformats.org/officeDocument/2006/relationships/image"/><Relationship Id="rId4" Target="../media/image14.jpe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358858" y="490732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0"/>
                </a:moveTo>
                <a:lnTo>
                  <a:pt x="3247476" y="0"/>
                </a:lnTo>
                <a:lnTo>
                  <a:pt x="3247476" y="472360"/>
                </a:lnTo>
                <a:lnTo>
                  <a:pt x="0" y="472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5400000">
            <a:off x="15399382" y="490732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6" y="472360"/>
                </a:lnTo>
                <a:lnTo>
                  <a:pt x="3247476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35963" y="1591634"/>
            <a:ext cx="12616074" cy="3770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18"/>
              </a:lnSpc>
            </a:pPr>
            <a:r>
              <a:rPr lang="en-US" sz="7589" spc="-371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rPr>
              <a:t>FALHAS CRIPTOGRÁFICAS E A EXPOSIÇÃO DE DADOS SENSÍVEIS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01060" y="8629515"/>
            <a:ext cx="8691711" cy="1219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6"/>
              </a:lnSpc>
            </a:pPr>
            <a:r>
              <a:rPr lang="en-US" sz="3732" spc="-182">
                <a:solidFill>
                  <a:srgbClr val="E2A9F1"/>
                </a:solidFill>
                <a:latin typeface="Bree Serif"/>
                <a:ea typeface="Bree Serif"/>
                <a:cs typeface="Bree Serif"/>
                <a:sym typeface="Bree Serif"/>
              </a:rPr>
              <a:t>ALUNOS:  MARLON HENRIQUE SILVA DA SILVA</a:t>
            </a:r>
          </a:p>
          <a:p>
            <a:pPr algn="l">
              <a:lnSpc>
                <a:spcPts val="4926"/>
              </a:lnSpc>
              <a:spcBef>
                <a:spcPct val="0"/>
              </a:spcBef>
            </a:pPr>
            <a:r>
              <a:rPr lang="en-US" sz="3732" spc="-182">
                <a:solidFill>
                  <a:srgbClr val="E2A9F1"/>
                </a:solidFill>
                <a:latin typeface="Bree Serif"/>
                <a:ea typeface="Bree Serif"/>
                <a:cs typeface="Bree Serif"/>
                <a:sym typeface="Bree Serif"/>
              </a:rPr>
              <a:t>MATHEUS LOBATO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0973" y="2561885"/>
            <a:ext cx="5980010" cy="6696415"/>
            <a:chOff x="0" y="0"/>
            <a:chExt cx="6350000" cy="71107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7110730"/>
            </a:xfrm>
            <a:custGeom>
              <a:avLst/>
              <a:gdLst/>
              <a:ahLst/>
              <a:cxnLst/>
              <a:rect r="r" b="b" t="t" l="l"/>
              <a:pathLst>
                <a:path h="7110730" w="6350000">
                  <a:moveTo>
                    <a:pt x="6350000" y="4700270"/>
                  </a:moveTo>
                  <a:lnTo>
                    <a:pt x="0" y="7110730"/>
                  </a:lnTo>
                  <a:lnTo>
                    <a:pt x="0" y="241046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3"/>
              <a:stretch>
                <a:fillRect l="-33880" t="0" r="-3388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true" rot="0">
            <a:off x="14011825" y="10287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8317705" y="10287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912299" y="1543663"/>
            <a:ext cx="6638493" cy="147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80"/>
              </a:lnSpc>
            </a:pPr>
            <a:r>
              <a:rPr lang="en-US" sz="9000" spc="-441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INTRODUÇÃO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49066" y="3459976"/>
            <a:ext cx="9144000" cy="4266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224"/>
              </a:lnSpc>
              <a:spcBef>
                <a:spcPct val="0"/>
              </a:spcBef>
              <a:buFont typeface="Arial"/>
              <a:buChar char="•"/>
            </a:pPr>
            <a:r>
              <a:rPr lang="en-US" sz="3200" spc="-15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SEGURANÇA DA INFORMAÇÃO: PILAR NO DESENVOLVIMEN</a:t>
            </a:r>
            <a:r>
              <a:rPr lang="en-US" sz="3200" spc="-15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TO DE SISTEMAS DIGITAIS.</a:t>
            </a:r>
          </a:p>
          <a:p>
            <a:pPr algn="l" marL="690881" indent="-345440" lvl="1">
              <a:lnSpc>
                <a:spcPts val="4224"/>
              </a:lnSpc>
              <a:spcBef>
                <a:spcPct val="0"/>
              </a:spcBef>
              <a:buFont typeface="Arial"/>
              <a:buChar char="•"/>
            </a:pPr>
            <a:r>
              <a:rPr lang="en-US" sz="3200" spc="-15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OWASP TOP 10:  #2 - FALHAS CRIPTOGRÁFICAS (ANTES EXPOSIÇÃO DE DADOS SENSÍVEIS).</a:t>
            </a:r>
          </a:p>
          <a:p>
            <a:pPr algn="l" marL="690881" indent="-345440" lvl="1">
              <a:lnSpc>
                <a:spcPts val="4224"/>
              </a:lnSpc>
              <a:spcBef>
                <a:spcPct val="0"/>
              </a:spcBef>
              <a:buFont typeface="Arial"/>
              <a:buChar char="•"/>
            </a:pPr>
            <a:r>
              <a:rPr lang="en-US" sz="3200" spc="-15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MUDANÇA DE ENFOQUE: DE SINTOMA → PARA CAUSA RAIZ (MÁ UTILIZAÇÃO OU AUSÊNCIA DE CRIPTOGRAFIA).</a:t>
            </a:r>
          </a:p>
          <a:p>
            <a:pPr algn="l">
              <a:lnSpc>
                <a:spcPts val="422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186310" y="3577565"/>
            <a:ext cx="5072990" cy="5680735"/>
            <a:chOff x="0" y="0"/>
            <a:chExt cx="6350000" cy="71107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7110730"/>
            </a:xfrm>
            <a:custGeom>
              <a:avLst/>
              <a:gdLst/>
              <a:ahLst/>
              <a:cxnLst/>
              <a:rect r="r" b="b" t="t" l="l"/>
              <a:pathLst>
                <a:path h="7110730" w="6350000">
                  <a:moveTo>
                    <a:pt x="6350000" y="4700270"/>
                  </a:moveTo>
                  <a:lnTo>
                    <a:pt x="0" y="7110730"/>
                  </a:lnTo>
                  <a:lnTo>
                    <a:pt x="0" y="241046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3"/>
              <a:stretch>
                <a:fillRect l="-49382" t="0" r="-49382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479607" y="1028700"/>
            <a:ext cx="4243198" cy="4751533"/>
            <a:chOff x="0" y="0"/>
            <a:chExt cx="6350000" cy="71107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7110730"/>
            </a:xfrm>
            <a:custGeom>
              <a:avLst/>
              <a:gdLst/>
              <a:ahLst/>
              <a:cxnLst/>
              <a:rect r="r" b="b" t="t" l="l"/>
              <a:pathLst>
                <a:path h="7110730" w="6350000">
                  <a:moveTo>
                    <a:pt x="6350000" y="4700270"/>
                  </a:moveTo>
                  <a:lnTo>
                    <a:pt x="0" y="7110730"/>
                  </a:lnTo>
                  <a:lnTo>
                    <a:pt x="0" y="241046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4"/>
              <a:stretch>
                <a:fillRect l="-34037" t="0" r="-34037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true" rot="-5400000">
            <a:off x="9092049" y="7398382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76673" y="1792919"/>
            <a:ext cx="8267327" cy="1158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73"/>
              </a:lnSpc>
            </a:pPr>
            <a:r>
              <a:rPr lang="en-US" sz="7101" spc="-347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RISCOS ENVOLVIDOS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392043"/>
            <a:ext cx="8441454" cy="5866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4"/>
              </a:lnSpc>
              <a:spcBef>
                <a:spcPct val="0"/>
              </a:spcBef>
            </a:pPr>
            <a:r>
              <a:rPr lang="en-US" sz="3200" spc="-15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     EXPOSIÇÃO D</a:t>
            </a:r>
            <a:r>
              <a:rPr lang="en-US" sz="3200" spc="-15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E DADOS CRÍTICOS:</a:t>
            </a:r>
          </a:p>
          <a:p>
            <a:pPr algn="l" marL="690881" indent="-345440" lvl="1">
              <a:lnSpc>
                <a:spcPts val="4224"/>
              </a:lnSpc>
              <a:spcBef>
                <a:spcPct val="0"/>
              </a:spcBef>
              <a:buFont typeface="Arial"/>
              <a:buChar char="•"/>
            </a:pPr>
            <a:r>
              <a:rPr lang="en-US" sz="3200" spc="-15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SENHAS</a:t>
            </a:r>
          </a:p>
          <a:p>
            <a:pPr algn="l" marL="690881" indent="-345440" lvl="1">
              <a:lnSpc>
                <a:spcPts val="4224"/>
              </a:lnSpc>
              <a:spcBef>
                <a:spcPct val="0"/>
              </a:spcBef>
              <a:buFont typeface="Arial"/>
              <a:buChar char="•"/>
            </a:pPr>
            <a:r>
              <a:rPr lang="en-US" sz="3200" spc="-15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CARTÕES DE CRÉDITO</a:t>
            </a:r>
          </a:p>
          <a:p>
            <a:pPr algn="l" marL="690881" indent="-345440" lvl="1">
              <a:lnSpc>
                <a:spcPts val="4224"/>
              </a:lnSpc>
              <a:spcBef>
                <a:spcPct val="0"/>
              </a:spcBef>
              <a:buFont typeface="Arial"/>
              <a:buChar char="•"/>
            </a:pPr>
            <a:r>
              <a:rPr lang="en-US" sz="3200" spc="-15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REGISTROS MÉDICOS</a:t>
            </a:r>
          </a:p>
          <a:p>
            <a:pPr algn="l" marL="690881" indent="-345440" lvl="1">
              <a:lnSpc>
                <a:spcPts val="4224"/>
              </a:lnSpc>
              <a:spcBef>
                <a:spcPct val="0"/>
              </a:spcBef>
              <a:buFont typeface="Arial"/>
              <a:buChar char="•"/>
            </a:pPr>
            <a:r>
              <a:rPr lang="en-US" sz="3200" spc="-15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INFORMAÇÕES PESSOAIS</a:t>
            </a:r>
          </a:p>
          <a:p>
            <a:pPr algn="l" marL="690881" indent="-345440" lvl="1">
              <a:lnSpc>
                <a:spcPts val="4224"/>
              </a:lnSpc>
              <a:spcBef>
                <a:spcPct val="0"/>
              </a:spcBef>
              <a:buFont typeface="Arial"/>
              <a:buChar char="•"/>
            </a:pPr>
            <a:r>
              <a:rPr lang="en-US" sz="3200" spc="-15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SEGREDOS CORPORATIVOS</a:t>
            </a:r>
          </a:p>
          <a:p>
            <a:pPr algn="l">
              <a:lnSpc>
                <a:spcPts val="4224"/>
              </a:lnSpc>
              <a:spcBef>
                <a:spcPct val="0"/>
              </a:spcBef>
            </a:pPr>
            <a:r>
              <a:rPr lang="en-US" sz="3200" spc="-15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     </a:t>
            </a:r>
            <a:r>
              <a:rPr lang="en-US" sz="3200" spc="-15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CONSEQUÊNCIAS:</a:t>
            </a:r>
          </a:p>
          <a:p>
            <a:pPr algn="l" marL="690881" indent="-345440" lvl="1">
              <a:lnSpc>
                <a:spcPts val="4224"/>
              </a:lnSpc>
              <a:spcBef>
                <a:spcPct val="0"/>
              </a:spcBef>
              <a:buFont typeface="Arial"/>
              <a:buChar char="•"/>
            </a:pPr>
            <a:r>
              <a:rPr lang="en-US" sz="3200" spc="-15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VIOLAÇÃO DE PRIVACIDADE</a:t>
            </a:r>
          </a:p>
          <a:p>
            <a:pPr algn="l" marL="690881" indent="-345440" lvl="1">
              <a:lnSpc>
                <a:spcPts val="4224"/>
              </a:lnSpc>
              <a:spcBef>
                <a:spcPct val="0"/>
              </a:spcBef>
              <a:buFont typeface="Arial"/>
              <a:buChar char="•"/>
            </a:pPr>
            <a:r>
              <a:rPr lang="en-US" sz="3200" spc="-15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PREJUÍZOS FINANCEIROS</a:t>
            </a:r>
          </a:p>
          <a:p>
            <a:pPr algn="l" marL="690881" indent="-345440" lvl="1">
              <a:lnSpc>
                <a:spcPts val="4224"/>
              </a:lnSpc>
              <a:spcBef>
                <a:spcPct val="0"/>
              </a:spcBef>
              <a:buFont typeface="Arial"/>
              <a:buChar char="•"/>
            </a:pPr>
            <a:r>
              <a:rPr lang="en-US" sz="3200" spc="-15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IMPACTO LEGAL (GDPR, LGPD)</a:t>
            </a:r>
          </a:p>
          <a:p>
            <a:pPr algn="ctr">
              <a:lnSpc>
                <a:spcPts val="422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086576" y="521943"/>
            <a:ext cx="5995614" cy="6713888"/>
            <a:chOff x="0" y="0"/>
            <a:chExt cx="6350000" cy="71107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7110730"/>
            </a:xfrm>
            <a:custGeom>
              <a:avLst/>
              <a:gdLst/>
              <a:ahLst/>
              <a:cxnLst/>
              <a:rect r="r" b="b" t="t" l="l"/>
              <a:pathLst>
                <a:path h="7110730" w="6350000">
                  <a:moveTo>
                    <a:pt x="6350000" y="4700270"/>
                  </a:moveTo>
                  <a:lnTo>
                    <a:pt x="0" y="7110730"/>
                  </a:lnTo>
                  <a:lnTo>
                    <a:pt x="0" y="241046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3"/>
              <a:stretch>
                <a:fillRect l="-39583" t="0" r="-39583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767005"/>
            <a:ext cx="6208133" cy="329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13"/>
              </a:lnSpc>
            </a:pPr>
            <a:r>
              <a:rPr lang="en-US" sz="6601" spc="-323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NATUREZA DAS FALHAS CRIPTOGRÁFICAS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6048" y="5345690"/>
            <a:ext cx="16993252" cy="3732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224"/>
              </a:lnSpc>
              <a:spcBef>
                <a:spcPct val="0"/>
              </a:spcBef>
              <a:buFont typeface="Arial"/>
              <a:buChar char="•"/>
            </a:pPr>
            <a:r>
              <a:rPr lang="en-US" sz="3200" spc="-15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TRANSMISSÃO EM TEXTO CLARO (HTTP, FTP, SMTP).</a:t>
            </a:r>
          </a:p>
          <a:p>
            <a:pPr algn="l" marL="690881" indent="-345440" lvl="1">
              <a:lnSpc>
                <a:spcPts val="4224"/>
              </a:lnSpc>
              <a:spcBef>
                <a:spcPct val="0"/>
              </a:spcBef>
              <a:buFont typeface="Arial"/>
              <a:buChar char="•"/>
            </a:pPr>
            <a:r>
              <a:rPr lang="en-US" sz="3200" spc="-15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ALGORITMOS/PROTOCOLOS OBSOLETOS (MD5, SHA-1, ECB).</a:t>
            </a:r>
          </a:p>
          <a:p>
            <a:pPr algn="l">
              <a:lnSpc>
                <a:spcPts val="4224"/>
              </a:lnSpc>
              <a:spcBef>
                <a:spcPct val="0"/>
              </a:spcBef>
            </a:pPr>
            <a:r>
              <a:rPr lang="en-US" sz="3200" spc="-15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             -MD5 E SHA-1 → VULNERÁVEIS A COLISÕES.</a:t>
            </a:r>
          </a:p>
          <a:p>
            <a:pPr algn="l">
              <a:lnSpc>
                <a:spcPts val="4224"/>
              </a:lnSpc>
              <a:spcBef>
                <a:spcPct val="0"/>
              </a:spcBef>
            </a:pPr>
            <a:r>
              <a:rPr lang="en-US" sz="3200" spc="-15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             -MODO ECB → GERA PADRÕES PREVISÍVEIS.</a:t>
            </a:r>
          </a:p>
          <a:p>
            <a:pPr algn="l" marL="690881" indent="-345440" lvl="1">
              <a:lnSpc>
                <a:spcPts val="4224"/>
              </a:lnSpc>
              <a:spcBef>
                <a:spcPct val="0"/>
              </a:spcBef>
              <a:buFont typeface="Arial"/>
              <a:buChar char="•"/>
            </a:pPr>
            <a:r>
              <a:rPr lang="en-US" sz="3200" spc="-15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GERENCIAMENTO INADEQUADO DE CHAVES CRIPTOGRÁFICAS (REUTILIZAÇÃO, CHAVES NO CÓDIGO, FALTA DE ROTAÇÃO).</a:t>
            </a:r>
          </a:p>
          <a:p>
            <a:pPr algn="l">
              <a:lnSpc>
                <a:spcPts val="422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7520262" y="878594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6" y="472360"/>
                </a:lnTo>
                <a:lnTo>
                  <a:pt x="3247476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17624" y="971550"/>
            <a:ext cx="7452752" cy="1875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5"/>
              </a:lnSpc>
            </a:pPr>
            <a:r>
              <a:rPr lang="en-US" sz="5701" spc="-279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NATUREZA DAS FALHAS CRIPTOGRÁFICAS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46218" y="4863084"/>
            <a:ext cx="3795564" cy="522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4"/>
              </a:lnSpc>
              <a:spcBef>
                <a:spcPct val="0"/>
              </a:spcBef>
            </a:pPr>
            <a:r>
              <a:rPr lang="en-US" sz="3200" spc="-156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TEXTO DO SEU PARÁGRAFO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9117" y="3162526"/>
            <a:ext cx="16109766" cy="6109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396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47">
                <a:solidFill>
                  <a:srgbClr val="E2A9F1"/>
                </a:solidFill>
                <a:latin typeface="Bree Serif"/>
                <a:ea typeface="Bree Serif"/>
                <a:cs typeface="Bree Serif"/>
                <a:sym typeface="Bree Serif"/>
              </a:rPr>
              <a:t>AUSÊNCIA D</a:t>
            </a:r>
            <a:r>
              <a:rPr lang="en-US" sz="3000" spc="-147">
                <a:solidFill>
                  <a:srgbClr val="E2A9F1"/>
                </a:solidFill>
                <a:latin typeface="Bree Serif"/>
                <a:ea typeface="Bree Serif"/>
                <a:cs typeface="Bree Serif"/>
                <a:sym typeface="Bree Serif"/>
              </a:rPr>
              <a:t>E CONTROLES ADICIONAIS (HEADERS, CERTIFICADOS INVÁLIDOS).</a:t>
            </a:r>
          </a:p>
          <a:p>
            <a:pPr algn="l">
              <a:lnSpc>
                <a:spcPts val="3696"/>
              </a:lnSpc>
              <a:spcBef>
                <a:spcPct val="0"/>
              </a:spcBef>
            </a:pPr>
            <a:r>
              <a:rPr lang="en-US" sz="2800" spc="-137">
                <a:solidFill>
                  <a:srgbClr val="E2A9F1"/>
                </a:solidFill>
                <a:latin typeface="Bree Serif"/>
                <a:ea typeface="Bree Serif"/>
                <a:cs typeface="Bree Serif"/>
                <a:sym typeface="Bree Serif"/>
              </a:rPr>
              <a:t>         </a:t>
            </a:r>
            <a:r>
              <a:rPr lang="en-US" sz="2800" spc="-137">
                <a:solidFill>
                  <a:srgbClr val="B4B4B4"/>
                </a:solidFill>
                <a:latin typeface="Bree Serif"/>
                <a:ea typeface="Bree Serif"/>
                <a:cs typeface="Bree Serif"/>
                <a:sym typeface="Bree Serif"/>
              </a:rPr>
              <a:t>   -</a:t>
            </a:r>
            <a:r>
              <a:rPr lang="en-US" sz="2800" spc="-137">
                <a:solidFill>
                  <a:srgbClr val="B4B4B4"/>
                </a:solidFill>
                <a:latin typeface="Bree Serif"/>
                <a:ea typeface="Bree Serif"/>
                <a:cs typeface="Bree Serif"/>
                <a:sym typeface="Bree Serif"/>
              </a:rPr>
              <a:t>FALTA DE CABEÇALHOS DE SEGURANÇA HTTP, COMO: </a:t>
            </a:r>
          </a:p>
          <a:p>
            <a:pPr algn="l">
              <a:lnSpc>
                <a:spcPts val="3696"/>
              </a:lnSpc>
              <a:spcBef>
                <a:spcPct val="0"/>
              </a:spcBef>
            </a:pPr>
            <a:r>
              <a:rPr lang="en-US" sz="2800" spc="-137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HSTS (IMPEDE DOWNGRADE DE HTTPS PARA HTTP);  </a:t>
            </a:r>
          </a:p>
          <a:p>
            <a:pPr algn="l">
              <a:lnSpc>
                <a:spcPts val="3696"/>
              </a:lnSpc>
              <a:spcBef>
                <a:spcPct val="0"/>
              </a:spcBef>
            </a:pPr>
            <a:r>
              <a:rPr lang="en-US" sz="2800" spc="-137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X-FRAME-OPTIONS, X-CONTENT-TYPE-OPTIONS, CSP (EVITAM ATAQUES NO NAVEGADOR).</a:t>
            </a:r>
          </a:p>
          <a:p>
            <a:pPr algn="l">
              <a:lnSpc>
                <a:spcPts val="3696"/>
              </a:lnSpc>
              <a:spcBef>
                <a:spcPct val="0"/>
              </a:spcBef>
            </a:pPr>
            <a:r>
              <a:rPr lang="en-US" sz="2800" spc="-137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rPr>
              <a:t>         </a:t>
            </a:r>
            <a:r>
              <a:rPr lang="en-US" sz="2800" spc="-137">
                <a:solidFill>
                  <a:srgbClr val="A6A6A6"/>
                </a:solidFill>
                <a:latin typeface="Bree Serif"/>
                <a:ea typeface="Bree Serif"/>
                <a:cs typeface="Bree Serif"/>
                <a:sym typeface="Bree Serif"/>
              </a:rPr>
              <a:t>   -CERTIFICADOS TLS INVÁLIDOS OU NÃO VERIFICADOS, PERMITINDO ATAQUES MAN-IN-THE-MIDDLE.</a:t>
            </a:r>
          </a:p>
          <a:p>
            <a:pPr algn="l">
              <a:lnSpc>
                <a:spcPts val="3696"/>
              </a:lnSpc>
              <a:spcBef>
                <a:spcPct val="0"/>
              </a:spcBef>
            </a:pPr>
            <a:r>
              <a:rPr lang="en-US" sz="2800" spc="-137">
                <a:solidFill>
                  <a:srgbClr val="A6A6A6"/>
                </a:solidFill>
                <a:latin typeface="Bree Serif"/>
                <a:ea typeface="Bree Serif"/>
                <a:cs typeface="Bree Serif"/>
                <a:sym typeface="Bree Serif"/>
              </a:rPr>
              <a:t>            -CACHE HABILITADO PARA DADOS SENSÍVEIS, EXPONDO INFORMAÇÕES EM HISTÓRICO OU  MEMÓRIA.</a:t>
            </a:r>
          </a:p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sz="3000" spc="-147">
                <a:solidFill>
                  <a:srgbClr val="E2A9F1"/>
                </a:solidFill>
                <a:latin typeface="Bree Serif"/>
                <a:ea typeface="Bree Serif"/>
                <a:cs typeface="Bree Serif"/>
                <a:sym typeface="Bree Serif"/>
              </a:rPr>
              <a:t>           </a:t>
            </a:r>
            <a:r>
              <a:rPr lang="en-US" sz="3000" spc="-147">
                <a:solidFill>
                  <a:srgbClr val="A6A6A6"/>
                </a:solidFill>
                <a:latin typeface="Bree Serif"/>
                <a:ea typeface="Bree Serif"/>
                <a:cs typeface="Bree Serif"/>
                <a:sym typeface="Bree Serif"/>
              </a:rPr>
              <a:t> -AUSÊNCIA DE AUTENTICAÇÃO OU VERIFICAÇÃO DE INTEGRIDADE EM DADOS CRIPTOGRAFADOS.</a:t>
            </a:r>
          </a:p>
          <a:p>
            <a:pPr algn="l" marL="647702" indent="-323851" lvl="1">
              <a:lnSpc>
                <a:spcPts val="396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47">
                <a:solidFill>
                  <a:srgbClr val="E2A9F1"/>
                </a:solidFill>
                <a:latin typeface="Bree Serif"/>
                <a:ea typeface="Bree Serif"/>
                <a:cs typeface="Bree Serif"/>
                <a:sym typeface="Bree Serif"/>
              </a:rPr>
              <a:t>PROBLEMAS EM IVS E ALEATORIEDADE (BAIXA ENTROPIA, RNG INSEGURO).</a:t>
            </a:r>
          </a:p>
          <a:p>
            <a:pPr algn="l">
              <a:lnSpc>
                <a:spcPts val="3696"/>
              </a:lnSpc>
              <a:spcBef>
                <a:spcPct val="0"/>
              </a:spcBef>
            </a:pPr>
            <a:r>
              <a:rPr lang="en-US" sz="2800" spc="-137">
                <a:solidFill>
                  <a:srgbClr val="E2A9F1"/>
                </a:solidFill>
                <a:latin typeface="Bree Serif"/>
                <a:ea typeface="Bree Serif"/>
                <a:cs typeface="Bree Serif"/>
                <a:sym typeface="Bree Serif"/>
              </a:rPr>
              <a:t>          </a:t>
            </a:r>
            <a:r>
              <a:rPr lang="en-US" sz="2800" spc="-137">
                <a:solidFill>
                  <a:srgbClr val="A6A6A6"/>
                </a:solidFill>
                <a:latin typeface="Bree Serif"/>
                <a:ea typeface="Bree Serif"/>
                <a:cs typeface="Bree Serif"/>
                <a:sym typeface="Bree Serif"/>
              </a:rPr>
              <a:t> -NÚMEROS ALEATÓRIOS USADOS NA CRIPTOGRAFIA SÃO PREVISÍVEIS, REUTILIZADOS OU MAL GERADOS</a:t>
            </a:r>
          </a:p>
          <a:p>
            <a:pPr algn="l" marL="647702" indent="-323851" lvl="1">
              <a:lnSpc>
                <a:spcPts val="396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47">
                <a:solidFill>
                  <a:srgbClr val="E2A9F1"/>
                </a:solidFill>
                <a:latin typeface="Bree Serif"/>
                <a:ea typeface="Bree Serif"/>
                <a:cs typeface="Bree Serif"/>
                <a:sym typeface="Bree Serif"/>
              </a:rPr>
              <a:t>ARMAZENAMENTO INADEQUADO DE SENHAS (HASH RÁPIDO, SEM SALTING).</a:t>
            </a:r>
          </a:p>
          <a:p>
            <a:pPr algn="l">
              <a:lnSpc>
                <a:spcPts val="3564"/>
              </a:lnSpc>
              <a:spcBef>
                <a:spcPct val="0"/>
              </a:spcBef>
            </a:pPr>
            <a:r>
              <a:rPr lang="en-US" sz="2700" spc="-132">
                <a:solidFill>
                  <a:srgbClr val="E2A9F1"/>
                </a:solidFill>
                <a:latin typeface="Bree Serif"/>
                <a:ea typeface="Bree Serif"/>
                <a:cs typeface="Bree Serif"/>
                <a:sym typeface="Bree Serif"/>
              </a:rPr>
              <a:t>          </a:t>
            </a:r>
            <a:r>
              <a:rPr lang="en-US" sz="2700" spc="-132">
                <a:solidFill>
                  <a:srgbClr val="A6A6A6"/>
                </a:solidFill>
                <a:latin typeface="Bree Serif"/>
                <a:ea typeface="Bree Serif"/>
                <a:cs typeface="Bree Serif"/>
                <a:sym typeface="Bree Serif"/>
              </a:rPr>
              <a:t> -MÉTODOS PODEM SER QUEBRADOS FACILMENTE COM FERRAMENTAS MODERNAS COMO GPUS E RAINBOW                                      TABLES</a:t>
            </a:r>
          </a:p>
          <a:p>
            <a:pPr algn="l">
              <a:lnSpc>
                <a:spcPts val="356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0973" y="2297488"/>
            <a:ext cx="4167313" cy="4666557"/>
            <a:chOff x="0" y="0"/>
            <a:chExt cx="6350000" cy="71107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7110730"/>
            </a:xfrm>
            <a:custGeom>
              <a:avLst/>
              <a:gdLst/>
              <a:ahLst/>
              <a:cxnLst/>
              <a:rect r="r" b="b" t="t" l="l"/>
              <a:pathLst>
                <a:path h="7110730" w="6350000">
                  <a:moveTo>
                    <a:pt x="6350000" y="4700270"/>
                  </a:moveTo>
                  <a:lnTo>
                    <a:pt x="0" y="7110730"/>
                  </a:lnTo>
                  <a:lnTo>
                    <a:pt x="0" y="241046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3"/>
              <a:stretch>
                <a:fillRect l="-92953" t="0" r="-92953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2835963" y="5138600"/>
            <a:ext cx="3678960" cy="4119700"/>
            <a:chOff x="0" y="0"/>
            <a:chExt cx="6350000" cy="71107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7110730"/>
            </a:xfrm>
            <a:custGeom>
              <a:avLst/>
              <a:gdLst/>
              <a:ahLst/>
              <a:cxnLst/>
              <a:rect r="r" b="b" t="t" l="l"/>
              <a:pathLst>
                <a:path h="7110730" w="6350000">
                  <a:moveTo>
                    <a:pt x="6350000" y="4700270"/>
                  </a:moveTo>
                  <a:lnTo>
                    <a:pt x="0" y="7110730"/>
                  </a:lnTo>
                  <a:lnTo>
                    <a:pt x="0" y="241046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4"/>
              <a:stretch>
                <a:fillRect l="-34037" t="0" r="-34037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true" rot="0">
            <a:off x="11123287" y="878594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581987" y="591262"/>
            <a:ext cx="10330074" cy="1359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57"/>
              </a:lnSpc>
            </a:pPr>
            <a:r>
              <a:rPr lang="en-US" sz="8300" spc="-40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IMPACTOS POTENCIAIS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28609" y="3744857"/>
            <a:ext cx="10330074" cy="4094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224"/>
              </a:lnSpc>
              <a:buFont typeface="Arial"/>
              <a:buChar char="•"/>
            </a:pPr>
            <a:r>
              <a:rPr lang="en-US" sz="3200" spc="-15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CENÁRIO 1: SQL INJECTION → DADOS CRIPTOGRAFADOS EXPOSTOS EM TEXTO CLARO.</a:t>
            </a:r>
          </a:p>
          <a:p>
            <a:pPr algn="l">
              <a:lnSpc>
                <a:spcPts val="3564"/>
              </a:lnSpc>
            </a:pPr>
            <a:r>
              <a:rPr lang="en-US" sz="2700" spc="-132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          </a:t>
            </a:r>
            <a:r>
              <a:rPr lang="en-US" sz="2700" spc="-132">
                <a:solidFill>
                  <a:srgbClr val="A6A6A6"/>
                </a:solidFill>
                <a:latin typeface="Bree Serif"/>
                <a:ea typeface="Bree Serif"/>
                <a:cs typeface="Bree Serif"/>
                <a:sym typeface="Bree Serif"/>
              </a:rPr>
              <a:t> - INVASOR INSERE (INJETA) CÓDIGO SQL MALICIOSO EM CAMPOS DE ENTRADA DE UMA APLICAÇÃO</a:t>
            </a:r>
          </a:p>
          <a:p>
            <a:pPr algn="l" marL="690881" indent="-345440" lvl="1">
              <a:lnSpc>
                <a:spcPts val="4224"/>
              </a:lnSpc>
              <a:buFont typeface="Arial"/>
              <a:buChar char="•"/>
            </a:pPr>
            <a:r>
              <a:rPr lang="en-US" sz="3200" spc="-15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CENÁRIO 2: AUSÊNCIA DE TLS → SEQUESTRO DE SESSÕES (COOKIES INTERCEPTADOS).</a:t>
            </a:r>
          </a:p>
          <a:p>
            <a:pPr algn="l" marL="690881" indent="-345440" lvl="1">
              <a:lnSpc>
                <a:spcPts val="4224"/>
              </a:lnSpc>
              <a:buFont typeface="Arial"/>
              <a:buChar char="•"/>
            </a:pPr>
            <a:r>
              <a:rPr lang="en-US" sz="3200" spc="-15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CENÁRIO 3: SENHAS COM HASHES FRACOS → ATAQUES VIA RAINBOW TABLES E GPUS.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147568" y="1028700"/>
            <a:ext cx="3111732" cy="3484517"/>
            <a:chOff x="0" y="0"/>
            <a:chExt cx="6350000" cy="71107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7110730"/>
            </a:xfrm>
            <a:custGeom>
              <a:avLst/>
              <a:gdLst/>
              <a:ahLst/>
              <a:cxnLst/>
              <a:rect r="r" b="b" t="t" l="l"/>
              <a:pathLst>
                <a:path h="7110730" w="6350000">
                  <a:moveTo>
                    <a:pt x="6350000" y="4700270"/>
                  </a:moveTo>
                  <a:lnTo>
                    <a:pt x="0" y="7110730"/>
                  </a:lnTo>
                  <a:lnTo>
                    <a:pt x="0" y="241046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3"/>
              <a:stretch>
                <a:fillRect l="-33880" t="0" r="-3388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50571" y="5466741"/>
            <a:ext cx="3111732" cy="3484517"/>
            <a:chOff x="0" y="0"/>
            <a:chExt cx="6350000" cy="71107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7110730"/>
            </a:xfrm>
            <a:custGeom>
              <a:avLst/>
              <a:gdLst/>
              <a:ahLst/>
              <a:cxnLst/>
              <a:rect r="r" b="b" t="t" l="l"/>
              <a:pathLst>
                <a:path h="7110730" w="6350000">
                  <a:moveTo>
                    <a:pt x="6350000" y="4700270"/>
                  </a:moveTo>
                  <a:lnTo>
                    <a:pt x="0" y="7110730"/>
                  </a:lnTo>
                  <a:lnTo>
                    <a:pt x="0" y="241046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4"/>
              <a:stretch>
                <a:fillRect l="-34037" t="0" r="-34037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true" rot="-5400000">
            <a:off x="15399382" y="7398382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6" y="472360"/>
                </a:lnTo>
                <a:lnTo>
                  <a:pt x="3247476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599956"/>
            <a:ext cx="9472400" cy="1096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77"/>
              </a:lnSpc>
            </a:pPr>
            <a:r>
              <a:rPr lang="en-US" sz="6801" spc="-333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MEDIDAS DE PREVENÇÃO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3446" y="3043123"/>
            <a:ext cx="10562907" cy="4266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8696" indent="-344348" lvl="1">
              <a:lnSpc>
                <a:spcPts val="4210"/>
              </a:lnSpc>
              <a:buFont typeface="Arial"/>
              <a:buChar char="•"/>
            </a:pPr>
            <a:r>
              <a:rPr lang="en-US" sz="3189" spc="-15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CLASSIFICAÇÃO DOS DADOS (SENSIBILIDADE E LEGISLAÇÃO).</a:t>
            </a:r>
          </a:p>
          <a:p>
            <a:pPr algn="l" marL="688696" indent="-344348" lvl="1">
              <a:lnSpc>
                <a:spcPts val="4210"/>
              </a:lnSpc>
              <a:buFont typeface="Arial"/>
              <a:buChar char="•"/>
            </a:pPr>
            <a:r>
              <a:rPr lang="en-US" sz="3189" spc="-15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MINIMIZAÇÃO DO ARMAZENAMENTO (TOKENIZAÇÃO, TRUNCAMENTO).</a:t>
            </a:r>
          </a:p>
          <a:p>
            <a:pPr algn="l" marL="688696" indent="-344348" lvl="1">
              <a:lnSpc>
                <a:spcPts val="4210"/>
              </a:lnSpc>
              <a:buFont typeface="Arial"/>
              <a:buChar char="•"/>
            </a:pPr>
            <a:r>
              <a:rPr lang="en-US" sz="3189" spc="-15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CRIPTOGRAFIA EM REPOUSO E EM TRÂNSITO (TLS COM FORWARD SECRECY).</a:t>
            </a:r>
          </a:p>
          <a:p>
            <a:pPr algn="l" marL="688696" indent="-344348" lvl="1">
              <a:lnSpc>
                <a:spcPts val="4210"/>
              </a:lnSpc>
              <a:buFont typeface="Arial"/>
              <a:buChar char="•"/>
            </a:pPr>
            <a:r>
              <a:rPr lang="en-US" sz="3189" spc="-15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GERENCIAMENTO DE CHAVES SEGURO (GERAÇÃO, ARMAZENAMENTO, ROTAÇÃO).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7520262" y="902212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6" y="472360"/>
                </a:lnTo>
                <a:lnTo>
                  <a:pt x="3247476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11581" y="576151"/>
            <a:ext cx="13889460" cy="1402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53"/>
              </a:lnSpc>
            </a:pPr>
            <a:r>
              <a:rPr lang="en-US" sz="8600" spc="-421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MEDIDAS DE PREVENÇÃO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29767" y="3529750"/>
            <a:ext cx="15828466" cy="3884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9822" indent="-419911" lvl="1">
              <a:lnSpc>
                <a:spcPts val="5134"/>
              </a:lnSpc>
              <a:buFont typeface="Arial"/>
              <a:buChar char="•"/>
            </a:pPr>
            <a:r>
              <a:rPr lang="en-US" sz="3889" spc="-190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ALGORITMOS ROBUSTOS DE HASHING (ARGON2, BCRYPT, SCRYPT, PBKDF2).</a:t>
            </a:r>
          </a:p>
          <a:p>
            <a:pPr algn="l" marL="839822" indent="-419911" lvl="1">
              <a:lnSpc>
                <a:spcPts val="5134"/>
              </a:lnSpc>
              <a:buFont typeface="Arial"/>
              <a:buChar char="•"/>
            </a:pPr>
            <a:r>
              <a:rPr lang="en-US" sz="3889" spc="-190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BOAS PRÁTICAS COM IVS E CSPRNG.</a:t>
            </a:r>
          </a:p>
          <a:p>
            <a:pPr algn="l" marL="839822" indent="-419911" lvl="1">
              <a:lnSpc>
                <a:spcPts val="5134"/>
              </a:lnSpc>
              <a:buFont typeface="Arial"/>
              <a:buChar char="•"/>
            </a:pPr>
            <a:r>
              <a:rPr lang="en-US" sz="3889" spc="-190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CRIPTOGRAFIA AUTENTICADA &gt; CRIPTOGRAFIA SIMPLES.</a:t>
            </a:r>
          </a:p>
          <a:p>
            <a:pPr algn="l" marL="839822" indent="-419911" lvl="1">
              <a:lnSpc>
                <a:spcPts val="5134"/>
              </a:lnSpc>
              <a:buFont typeface="Arial"/>
              <a:buChar char="•"/>
            </a:pPr>
            <a:r>
              <a:rPr lang="en-US" sz="3889" spc="-190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ADOÇÃO DE CABEÇALHOS E DIRETIVAS (HSTS, CACHE DESATIVADO).</a:t>
            </a:r>
          </a:p>
          <a:p>
            <a:pPr algn="l" marL="839822" indent="-419911" lvl="1">
              <a:lnSpc>
                <a:spcPts val="5134"/>
              </a:lnSpc>
              <a:buFont typeface="Arial"/>
              <a:buChar char="•"/>
            </a:pPr>
            <a:r>
              <a:rPr lang="en-US" sz="3889" spc="-190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EVITAR FUNÇÕES OBSOLETAS (MD5, SHA-1, PKCS#1 V1.5).</a:t>
            </a:r>
          </a:p>
          <a:p>
            <a:pPr algn="l" marL="839822" indent="-419911" lvl="1">
              <a:lnSpc>
                <a:spcPts val="5134"/>
              </a:lnSpc>
              <a:buFont typeface="Arial"/>
              <a:buChar char="•"/>
            </a:pPr>
            <a:r>
              <a:rPr lang="en-US" sz="3889" spc="-190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AUDITORIAS E TESTES DE SEGURANÇA.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587796" y="293902"/>
            <a:ext cx="4671504" cy="5231150"/>
            <a:chOff x="0" y="0"/>
            <a:chExt cx="6350000" cy="71107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7110730"/>
            </a:xfrm>
            <a:custGeom>
              <a:avLst/>
              <a:gdLst/>
              <a:ahLst/>
              <a:cxnLst/>
              <a:rect r="r" b="b" t="t" l="l"/>
              <a:pathLst>
                <a:path h="7110730" w="6350000">
                  <a:moveTo>
                    <a:pt x="6350000" y="4700270"/>
                  </a:moveTo>
                  <a:lnTo>
                    <a:pt x="0" y="7110730"/>
                  </a:lnTo>
                  <a:lnTo>
                    <a:pt x="0" y="241046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3"/>
              <a:stretch>
                <a:fillRect l="-26962" t="0" r="-26962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587796" y="4218492"/>
            <a:ext cx="4671504" cy="5231150"/>
            <a:chOff x="0" y="0"/>
            <a:chExt cx="6350000" cy="71107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7110730"/>
            </a:xfrm>
            <a:custGeom>
              <a:avLst/>
              <a:gdLst/>
              <a:ahLst/>
              <a:cxnLst/>
              <a:rect r="r" b="b" t="t" l="l"/>
              <a:pathLst>
                <a:path h="7110730" w="6350000">
                  <a:moveTo>
                    <a:pt x="6350000" y="4700270"/>
                  </a:moveTo>
                  <a:lnTo>
                    <a:pt x="0" y="7110730"/>
                  </a:lnTo>
                  <a:lnTo>
                    <a:pt x="0" y="241046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4"/>
              <a:stretch>
                <a:fillRect l="-33943" t="0" r="-33943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true" rot="0">
            <a:off x="4517593" y="9213463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6" y="472360"/>
                </a:lnTo>
                <a:lnTo>
                  <a:pt x="3247476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362075"/>
            <a:ext cx="9515248" cy="123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89"/>
              </a:lnSpc>
            </a:pPr>
            <a:r>
              <a:rPr lang="en-US" sz="10332" spc="-50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CONCLUSÃO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4382" y="3079850"/>
            <a:ext cx="10833899" cy="538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FALHAS CRIPTOGRÁFICAS = AMEAÇAS CRÍTICAS E RECORRENTES.</a:t>
            </a:r>
          </a:p>
          <a:p>
            <a:pPr algn="l" marL="777240" indent="-388620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EXPOSIÇÃO EM LARGA ESCALA AINDA COMUM.</a:t>
            </a:r>
          </a:p>
          <a:p>
            <a:pPr algn="l" marL="777240" indent="-388620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MITIGAÇÃO DEPENDE DE:</a:t>
            </a:r>
          </a:p>
          <a:p>
            <a:pPr algn="l" marL="777240" indent="-388620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PROTOCOLOS ROBUSTOS</a:t>
            </a:r>
          </a:p>
          <a:p>
            <a:pPr algn="l" marL="777240" indent="-388620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BOAS PRÁTICAS DE DESIGN E GESTÃO</a:t>
            </a:r>
          </a:p>
          <a:p>
            <a:pPr algn="l" marL="777240" indent="-388620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CULTURA ORGANIZACIONAL DE SEGURANÇA</a:t>
            </a:r>
          </a:p>
          <a:p>
            <a:pPr algn="l" marL="777240" indent="-388620" lvl="1">
              <a:lnSpc>
                <a:spcPts val="4752"/>
              </a:lnSpc>
              <a:buFont typeface="Arial"/>
              <a:buChar char="•"/>
            </a:pPr>
            <a:r>
              <a:rPr lang="en-US" sz="3600" spc="-176">
                <a:solidFill>
                  <a:srgbClr val="38B6FF"/>
                </a:solidFill>
                <a:latin typeface="Bree Serif"/>
                <a:ea typeface="Bree Serif"/>
                <a:cs typeface="Bree Serif"/>
                <a:sym typeface="Bree Serif"/>
              </a:rPr>
              <a:t>CONFORMIDADE (GDPR, PCI DSS) REFORÇA NECESSIDADE DE CUIDADOS CONTÍNUOS.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358858" y="490732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0"/>
                </a:moveTo>
                <a:lnTo>
                  <a:pt x="3247476" y="0"/>
                </a:lnTo>
                <a:lnTo>
                  <a:pt x="3247476" y="472360"/>
                </a:lnTo>
                <a:lnTo>
                  <a:pt x="0" y="472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5400000">
            <a:off x="15399382" y="490732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6" y="472360"/>
                </a:lnTo>
                <a:lnTo>
                  <a:pt x="3247476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35963" y="3447612"/>
            <a:ext cx="12616074" cy="3163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90"/>
              </a:lnSpc>
            </a:pPr>
            <a:r>
              <a:rPr lang="en-US" sz="19386" spc="-949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OBRIGADO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DAG1OlnWKds</dc:identifier>
  <dcterms:modified xsi:type="dcterms:W3CDTF">2011-08-01T06:04:30Z</dcterms:modified>
  <cp:revision>1</cp:revision>
  <dc:title>Falhas Criptográficas</dc:title>
</cp:coreProperties>
</file>